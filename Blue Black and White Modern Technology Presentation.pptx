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Lst>
  <p:sldSz cx="18288000" cy="10287000"/>
  <p:notesSz cx="6858000" cy="9144000"/>
  <p:embeddedFontLst>
    <p:embeddedFont>
      <p:font typeface="Times New Roman MT" charset="1" panose="02030502070405020303"/>
      <p:regular r:id="rId17"/>
    </p:embeddedFont>
    <p:embeddedFont>
      <p:font typeface="Proxima Nova Bold" charset="1" panose="02000506030000020004"/>
      <p:regular r:id="rId18"/>
    </p:embeddedFont>
    <p:embeddedFont>
      <p:font typeface="Times New Roman MT Bold" charset="1" panose="02030802070405020303"/>
      <p:regular r:id="rId19"/>
    </p:embeddedFont>
    <p:embeddedFont>
      <p:font typeface="Times New Roman Bold" charset="1" panose="02020803070505020304"/>
      <p:regular r:id="rId20"/>
    </p:embeddedFont>
    <p:embeddedFont>
      <p:font typeface="Anton" charset="1" panose="00000500000000000000"/>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png" Type="http://schemas.openxmlformats.org/officeDocument/2006/relationships/image"/><Relationship Id="rId4" Target="../media/image5.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55696" y="1908918"/>
            <a:ext cx="17454037" cy="1965895"/>
          </a:xfrm>
          <a:prstGeom prst="rect">
            <a:avLst/>
          </a:prstGeom>
        </p:spPr>
        <p:txBody>
          <a:bodyPr anchor="t" rtlCol="false" tIns="0" lIns="0" bIns="0" rIns="0">
            <a:spAutoFit/>
          </a:bodyPr>
          <a:lstStyle/>
          <a:p>
            <a:pPr algn="ctr">
              <a:lnSpc>
                <a:spcPts val="16674"/>
              </a:lnSpc>
            </a:pPr>
            <a:r>
              <a:rPr lang="en-US" sz="6669" spc="46">
                <a:solidFill>
                  <a:srgbClr val="000000"/>
                </a:solidFill>
                <a:latin typeface="Times New Roman MT"/>
                <a:ea typeface="Times New Roman MT"/>
                <a:cs typeface="Times New Roman MT"/>
                <a:sym typeface="Times New Roman MT"/>
              </a:rPr>
              <a:t>MINI PROJECT REPORT</a:t>
            </a:r>
          </a:p>
        </p:txBody>
      </p:sp>
      <p:sp>
        <p:nvSpPr>
          <p:cNvPr name="TextBox 3" id="3"/>
          <p:cNvSpPr txBox="true"/>
          <p:nvPr/>
        </p:nvSpPr>
        <p:spPr>
          <a:xfrm rot="0">
            <a:off x="14931318" y="912072"/>
            <a:ext cx="2327982" cy="641986"/>
          </a:xfrm>
          <a:prstGeom prst="rect">
            <a:avLst/>
          </a:prstGeom>
        </p:spPr>
        <p:txBody>
          <a:bodyPr anchor="t" rtlCol="false" tIns="0" lIns="0" bIns="0" rIns="0">
            <a:spAutoFit/>
          </a:bodyPr>
          <a:lstStyle/>
          <a:p>
            <a:pPr algn="r">
              <a:lnSpc>
                <a:spcPts val="5999"/>
              </a:lnSpc>
            </a:pPr>
            <a:r>
              <a:rPr lang="en-US" b="true" sz="2399" spc="-244">
                <a:solidFill>
                  <a:srgbClr val="FFFFFF"/>
                </a:solidFill>
                <a:latin typeface="Proxima Nova Bold"/>
                <a:ea typeface="Proxima Nova Bold"/>
                <a:cs typeface="Proxima Nova Bold"/>
                <a:sym typeface="Proxima Nova Bold"/>
              </a:rPr>
              <a:t>2039</a:t>
            </a:r>
          </a:p>
        </p:txBody>
      </p:sp>
      <p:sp>
        <p:nvSpPr>
          <p:cNvPr name="TextBox 4" id="4"/>
          <p:cNvSpPr txBox="true"/>
          <p:nvPr/>
        </p:nvSpPr>
        <p:spPr>
          <a:xfrm rot="0">
            <a:off x="3741859" y="4036738"/>
            <a:ext cx="10081711" cy="1106762"/>
          </a:xfrm>
          <a:prstGeom prst="rect">
            <a:avLst/>
          </a:prstGeom>
        </p:spPr>
        <p:txBody>
          <a:bodyPr anchor="t" rtlCol="false" tIns="0" lIns="0" bIns="0" rIns="0">
            <a:spAutoFit/>
          </a:bodyPr>
          <a:lstStyle/>
          <a:p>
            <a:pPr algn="ctr">
              <a:lnSpc>
                <a:spcPts val="9325"/>
              </a:lnSpc>
            </a:pPr>
            <a:r>
              <a:rPr lang="en-US" b="true" sz="3730" spc="-380">
                <a:solidFill>
                  <a:srgbClr val="000000"/>
                </a:solidFill>
                <a:latin typeface="Times New Roman MT Bold"/>
                <a:ea typeface="Times New Roman MT Bold"/>
                <a:cs typeface="Times New Roman MT Bold"/>
                <a:sym typeface="Times New Roman MT Bold"/>
              </a:rPr>
              <a:t>SUMMER  INTERNSHIP  PROGRAM  IN  AI &amp; ML</a:t>
            </a:r>
          </a:p>
        </p:txBody>
      </p:sp>
      <p:sp>
        <p:nvSpPr>
          <p:cNvPr name="TextBox 5" id="5"/>
          <p:cNvSpPr txBox="true"/>
          <p:nvPr/>
        </p:nvSpPr>
        <p:spPr>
          <a:xfrm rot="0">
            <a:off x="931863" y="340104"/>
            <a:ext cx="16327437" cy="1566425"/>
          </a:xfrm>
          <a:prstGeom prst="rect">
            <a:avLst/>
          </a:prstGeom>
        </p:spPr>
        <p:txBody>
          <a:bodyPr anchor="t" rtlCol="false" tIns="0" lIns="0" bIns="0" rIns="0">
            <a:spAutoFit/>
          </a:bodyPr>
          <a:lstStyle/>
          <a:p>
            <a:pPr algn="ctr">
              <a:lnSpc>
                <a:spcPts val="13347"/>
              </a:lnSpc>
            </a:pPr>
            <a:r>
              <a:rPr lang="en-US" b="true" sz="5339" spc="-544">
                <a:solidFill>
                  <a:srgbClr val="000000"/>
                </a:solidFill>
                <a:latin typeface="Times New Roman MT Bold"/>
                <a:ea typeface="Times New Roman MT Bold"/>
                <a:cs typeface="Times New Roman MT Bold"/>
                <a:sym typeface="Times New Roman MT Bold"/>
              </a:rPr>
              <a:t>GLOBAL NEXT CONSULTING INDIA  PRIVATE  LIMITED</a:t>
            </a:r>
          </a:p>
        </p:txBody>
      </p:sp>
      <p:sp>
        <p:nvSpPr>
          <p:cNvPr name="TextBox 6" id="6"/>
          <p:cNvSpPr txBox="true"/>
          <p:nvPr/>
        </p:nvSpPr>
        <p:spPr>
          <a:xfrm rot="0">
            <a:off x="4229223" y="5051345"/>
            <a:ext cx="9106983" cy="1636340"/>
          </a:xfrm>
          <a:prstGeom prst="rect">
            <a:avLst/>
          </a:prstGeom>
        </p:spPr>
        <p:txBody>
          <a:bodyPr anchor="t" rtlCol="false" tIns="0" lIns="0" bIns="0" rIns="0">
            <a:spAutoFit/>
          </a:bodyPr>
          <a:lstStyle/>
          <a:p>
            <a:pPr algn="ctr">
              <a:lnSpc>
                <a:spcPts val="13840"/>
              </a:lnSpc>
            </a:pPr>
            <a:r>
              <a:rPr lang="en-US" sz="5536" spc="-564">
                <a:solidFill>
                  <a:srgbClr val="000000"/>
                </a:solidFill>
                <a:latin typeface="Times New Roman MT"/>
                <a:ea typeface="Times New Roman MT"/>
                <a:cs typeface="Times New Roman MT"/>
                <a:sym typeface="Times New Roman MT"/>
              </a:rPr>
              <a:t>TOPIC:  Cyberattack Trends By Sector</a:t>
            </a:r>
          </a:p>
        </p:txBody>
      </p:sp>
      <p:sp>
        <p:nvSpPr>
          <p:cNvPr name="TextBox 7" id="7"/>
          <p:cNvSpPr txBox="true"/>
          <p:nvPr/>
        </p:nvSpPr>
        <p:spPr>
          <a:xfrm rot="0">
            <a:off x="370187" y="7888933"/>
            <a:ext cx="6743343" cy="2214859"/>
          </a:xfrm>
          <a:prstGeom prst="rect">
            <a:avLst/>
          </a:prstGeom>
        </p:spPr>
        <p:txBody>
          <a:bodyPr anchor="t" rtlCol="false" tIns="0" lIns="0" bIns="0" rIns="0">
            <a:spAutoFit/>
          </a:bodyPr>
          <a:lstStyle/>
          <a:p>
            <a:pPr algn="l">
              <a:lnSpc>
                <a:spcPts val="9009"/>
              </a:lnSpc>
            </a:pPr>
            <a:r>
              <a:rPr lang="en-US" sz="3603" spc="-367" b="true">
                <a:solidFill>
                  <a:srgbClr val="000000"/>
                </a:solidFill>
                <a:latin typeface="Times New Roman MT Bold"/>
                <a:ea typeface="Times New Roman MT Bold"/>
                <a:cs typeface="Times New Roman MT Bold"/>
                <a:sym typeface="Times New Roman MT Bold"/>
              </a:rPr>
              <a:t>Presented By: </a:t>
            </a:r>
            <a:r>
              <a:rPr lang="en-US" sz="3603" spc="-367">
                <a:solidFill>
                  <a:srgbClr val="000000"/>
                </a:solidFill>
                <a:latin typeface="Times New Roman MT"/>
                <a:ea typeface="Times New Roman MT"/>
                <a:cs typeface="Times New Roman MT"/>
                <a:sym typeface="Times New Roman MT"/>
              </a:rPr>
              <a:t>BETHA  JAYANTH  VEER</a:t>
            </a:r>
          </a:p>
          <a:p>
            <a:pPr algn="l">
              <a:lnSpc>
                <a:spcPts val="9009"/>
              </a:lnSpc>
            </a:pPr>
            <a:r>
              <a:rPr lang="en-US" sz="3603" spc="-367" b="true">
                <a:solidFill>
                  <a:srgbClr val="000000"/>
                </a:solidFill>
                <a:latin typeface="Times New Roman MT Bold"/>
                <a:ea typeface="Times New Roman MT Bold"/>
                <a:cs typeface="Times New Roman MT Bold"/>
                <a:sym typeface="Times New Roman MT Bold"/>
              </a:rPr>
              <a:t>Date :</a:t>
            </a:r>
            <a:r>
              <a:rPr lang="en-US" sz="3603" spc="-367">
                <a:solidFill>
                  <a:srgbClr val="000000"/>
                </a:solidFill>
                <a:latin typeface="Times New Roman MT"/>
                <a:ea typeface="Times New Roman MT"/>
                <a:cs typeface="Times New Roman MT"/>
                <a:sym typeface="Times New Roman MT"/>
              </a:rPr>
              <a:t> 08-06-2026</a:t>
            </a:r>
          </a:p>
        </p:txBody>
      </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402092" y="1530985"/>
            <a:ext cx="10154941" cy="706120"/>
          </a:xfrm>
          <a:prstGeom prst="rect">
            <a:avLst/>
          </a:prstGeom>
        </p:spPr>
        <p:txBody>
          <a:bodyPr anchor="t" rtlCol="false" tIns="0" lIns="0" bIns="0" rIns="0">
            <a:spAutoFit/>
          </a:bodyPr>
          <a:lstStyle/>
          <a:p>
            <a:pPr algn="l" marL="798831" indent="-399416" lvl="1">
              <a:lnSpc>
                <a:spcPts val="5180"/>
              </a:lnSpc>
              <a:buFont typeface="Arial"/>
              <a:buChar char="•"/>
            </a:pPr>
            <a:r>
              <a:rPr lang="en-US" b="true" sz="3700" spc="-125">
                <a:solidFill>
                  <a:srgbClr val="012D3D"/>
                </a:solidFill>
                <a:latin typeface="Times New Roman MT Bold"/>
                <a:ea typeface="Times New Roman MT Bold"/>
                <a:cs typeface="Times New Roman MT Bold"/>
                <a:sym typeface="Times New Roman MT Bold"/>
              </a:rPr>
              <a:t>Project Title: </a:t>
            </a:r>
            <a:r>
              <a:rPr lang="en-US" sz="3700" spc="-125">
                <a:solidFill>
                  <a:srgbClr val="012D3D"/>
                </a:solidFill>
                <a:latin typeface="Times New Roman MT"/>
                <a:ea typeface="Times New Roman MT"/>
                <a:cs typeface="Times New Roman MT"/>
                <a:sym typeface="Times New Roman MT"/>
              </a:rPr>
              <a:t>Cyberattack Trends By Sector</a:t>
            </a:r>
          </a:p>
        </p:txBody>
      </p:sp>
      <p:sp>
        <p:nvSpPr>
          <p:cNvPr name="TextBox 3" id="3"/>
          <p:cNvSpPr txBox="true"/>
          <p:nvPr/>
        </p:nvSpPr>
        <p:spPr>
          <a:xfrm rot="0">
            <a:off x="402092" y="2134235"/>
            <a:ext cx="5980542" cy="706120"/>
          </a:xfrm>
          <a:prstGeom prst="rect">
            <a:avLst/>
          </a:prstGeom>
        </p:spPr>
        <p:txBody>
          <a:bodyPr anchor="t" rtlCol="false" tIns="0" lIns="0" bIns="0" rIns="0">
            <a:spAutoFit/>
          </a:bodyPr>
          <a:lstStyle/>
          <a:p>
            <a:pPr algn="l" marL="798831" indent="-399416" lvl="1">
              <a:lnSpc>
                <a:spcPts val="5180"/>
              </a:lnSpc>
              <a:buFont typeface="Arial"/>
              <a:buChar char="•"/>
            </a:pPr>
            <a:r>
              <a:rPr lang="en-US" b="true" sz="3700" spc="-125">
                <a:solidFill>
                  <a:srgbClr val="012D3D"/>
                </a:solidFill>
                <a:latin typeface="Times New Roman MT Bold"/>
                <a:ea typeface="Times New Roman MT Bold"/>
                <a:cs typeface="Times New Roman MT Bold"/>
                <a:sym typeface="Times New Roman MT Bold"/>
              </a:rPr>
              <a:t>Domain: </a:t>
            </a:r>
            <a:r>
              <a:rPr lang="en-US" sz="3700" spc="-125">
                <a:solidFill>
                  <a:srgbClr val="012D3D"/>
                </a:solidFill>
                <a:latin typeface="Times New Roman MT"/>
                <a:ea typeface="Times New Roman MT"/>
                <a:cs typeface="Times New Roman MT"/>
                <a:sym typeface="Times New Roman MT"/>
              </a:rPr>
              <a:t>Cybersecurity</a:t>
            </a:r>
          </a:p>
        </p:txBody>
      </p:sp>
      <p:sp>
        <p:nvSpPr>
          <p:cNvPr name="TextBox 4" id="4"/>
          <p:cNvSpPr txBox="true"/>
          <p:nvPr/>
        </p:nvSpPr>
        <p:spPr>
          <a:xfrm rot="0">
            <a:off x="402092" y="2751278"/>
            <a:ext cx="17885908" cy="2020570"/>
          </a:xfrm>
          <a:prstGeom prst="rect">
            <a:avLst/>
          </a:prstGeom>
        </p:spPr>
        <p:txBody>
          <a:bodyPr anchor="t" rtlCol="false" tIns="0" lIns="0" bIns="0" rIns="0">
            <a:spAutoFit/>
          </a:bodyPr>
          <a:lstStyle/>
          <a:p>
            <a:pPr algn="l" marL="798831" indent="-399416" lvl="1">
              <a:lnSpc>
                <a:spcPts val="5180"/>
              </a:lnSpc>
              <a:buFont typeface="Arial"/>
              <a:buChar char="•"/>
            </a:pPr>
            <a:r>
              <a:rPr lang="en-US" b="true" sz="3700" spc="-125">
                <a:solidFill>
                  <a:srgbClr val="012D3D"/>
                </a:solidFill>
                <a:latin typeface="Times New Roman MT Bold"/>
                <a:ea typeface="Times New Roman MT Bold"/>
                <a:cs typeface="Times New Roman MT Bold"/>
                <a:sym typeface="Times New Roman MT Bold"/>
              </a:rPr>
              <a:t>Problem Statement:</a:t>
            </a:r>
            <a:r>
              <a:rPr lang="en-US" sz="3700" spc="-125">
                <a:solidFill>
                  <a:srgbClr val="012D3D"/>
                </a:solidFill>
                <a:latin typeface="Times New Roman MT"/>
                <a:ea typeface="Times New Roman MT"/>
                <a:cs typeface="Times New Roman MT"/>
                <a:sym typeface="Times New Roman MT"/>
              </a:rPr>
              <a:t> To analyze publicly reported cyber incidents across different sectors and identify trends, affected categories, locations, and financial losses using data analysis techniques.</a:t>
            </a:r>
          </a:p>
        </p:txBody>
      </p:sp>
      <p:sp>
        <p:nvSpPr>
          <p:cNvPr name="TextBox 5" id="5"/>
          <p:cNvSpPr txBox="true"/>
          <p:nvPr/>
        </p:nvSpPr>
        <p:spPr>
          <a:xfrm rot="0">
            <a:off x="402092" y="4773753"/>
            <a:ext cx="11925565" cy="706120"/>
          </a:xfrm>
          <a:prstGeom prst="rect">
            <a:avLst/>
          </a:prstGeom>
        </p:spPr>
        <p:txBody>
          <a:bodyPr anchor="t" rtlCol="false" tIns="0" lIns="0" bIns="0" rIns="0">
            <a:spAutoFit/>
          </a:bodyPr>
          <a:lstStyle/>
          <a:p>
            <a:pPr algn="l" marL="798831" indent="-399416" lvl="1">
              <a:lnSpc>
                <a:spcPts val="5180"/>
              </a:lnSpc>
              <a:buFont typeface="Arial"/>
              <a:buChar char="•"/>
            </a:pPr>
            <a:r>
              <a:rPr lang="en-US" b="true" sz="3700" spc="-125">
                <a:solidFill>
                  <a:srgbClr val="012D3D"/>
                </a:solidFill>
                <a:latin typeface="Times New Roman MT Bold"/>
                <a:ea typeface="Times New Roman MT Bold"/>
                <a:cs typeface="Times New Roman MT Bold"/>
                <a:sym typeface="Times New Roman MT Bold"/>
              </a:rPr>
              <a:t>Dataset Used: </a:t>
            </a:r>
            <a:r>
              <a:rPr lang="en-US" sz="3700" spc="-125">
                <a:solidFill>
                  <a:srgbClr val="012D3D"/>
                </a:solidFill>
                <a:latin typeface="Times New Roman MT"/>
                <a:ea typeface="Times New Roman MT"/>
                <a:cs typeface="Times New Roman MT"/>
                <a:sym typeface="Times New Roman MT"/>
              </a:rPr>
              <a:t>Kaggle Cybersecurity Incidents in India</a:t>
            </a:r>
          </a:p>
        </p:txBody>
      </p:sp>
      <p:sp>
        <p:nvSpPr>
          <p:cNvPr name="TextBox 6" id="6"/>
          <p:cNvSpPr txBox="true"/>
          <p:nvPr/>
        </p:nvSpPr>
        <p:spPr>
          <a:xfrm rot="0">
            <a:off x="1456379" y="5386528"/>
            <a:ext cx="11548710" cy="3992245"/>
          </a:xfrm>
          <a:prstGeom prst="rect">
            <a:avLst/>
          </a:prstGeom>
        </p:spPr>
        <p:txBody>
          <a:bodyPr anchor="t" rtlCol="false" tIns="0" lIns="0" bIns="0" rIns="0">
            <a:spAutoFit/>
          </a:bodyPr>
          <a:lstStyle/>
          <a:p>
            <a:pPr algn="l">
              <a:lnSpc>
                <a:spcPts val="5180"/>
              </a:lnSpc>
            </a:pPr>
            <a:r>
              <a:rPr lang="en-US" b="true" sz="3700" spc="-125">
                <a:solidFill>
                  <a:srgbClr val="012D3D"/>
                </a:solidFill>
                <a:latin typeface="Times New Roman MT Bold"/>
                <a:ea typeface="Times New Roman MT Bold"/>
                <a:cs typeface="Times New Roman MT Bold"/>
                <a:sym typeface="Times New Roman MT Bold"/>
              </a:rPr>
              <a:t>Project Overview:</a:t>
            </a:r>
          </a:p>
          <a:p>
            <a:pPr algn="l" marL="798831" indent="-399416" lvl="1">
              <a:lnSpc>
                <a:spcPts val="5180"/>
              </a:lnSpc>
              <a:buFont typeface="Arial"/>
              <a:buChar char="•"/>
            </a:pPr>
            <a:r>
              <a:rPr lang="en-US" sz="3700" spc="-125">
                <a:solidFill>
                  <a:srgbClr val="012D3D"/>
                </a:solidFill>
                <a:latin typeface="Times New Roman MT"/>
                <a:ea typeface="Times New Roman MT"/>
                <a:cs typeface="Times New Roman MT"/>
                <a:sym typeface="Times New Roman MT"/>
              </a:rPr>
              <a:t>Analyze cyber incidents across industries.</a:t>
            </a:r>
          </a:p>
          <a:p>
            <a:pPr algn="l" marL="798831" indent="-399416" lvl="1">
              <a:lnSpc>
                <a:spcPts val="5180"/>
              </a:lnSpc>
              <a:buFont typeface="Arial"/>
              <a:buChar char="•"/>
            </a:pPr>
            <a:r>
              <a:rPr lang="en-US" sz="3700" spc="-125">
                <a:solidFill>
                  <a:srgbClr val="012D3D"/>
                </a:solidFill>
                <a:latin typeface="Times New Roman MT"/>
                <a:ea typeface="Times New Roman MT"/>
                <a:cs typeface="Times New Roman MT"/>
                <a:sym typeface="Times New Roman MT"/>
              </a:rPr>
              <a:t>Identify the most common attack types.</a:t>
            </a:r>
          </a:p>
          <a:p>
            <a:pPr algn="l" marL="798831" indent="-399416" lvl="1">
              <a:lnSpc>
                <a:spcPts val="5180"/>
              </a:lnSpc>
              <a:buFont typeface="Arial"/>
              <a:buChar char="•"/>
            </a:pPr>
            <a:r>
              <a:rPr lang="en-US" sz="3700" spc="-125">
                <a:solidFill>
                  <a:srgbClr val="012D3D"/>
                </a:solidFill>
                <a:latin typeface="Times New Roman MT"/>
                <a:ea typeface="Times New Roman MT"/>
                <a:cs typeface="Times New Roman MT"/>
                <a:sym typeface="Times New Roman MT"/>
              </a:rPr>
              <a:t>Find the most affected categories and cities.</a:t>
            </a:r>
          </a:p>
          <a:p>
            <a:pPr algn="l" marL="798831" indent="-399416" lvl="1">
              <a:lnSpc>
                <a:spcPts val="5180"/>
              </a:lnSpc>
              <a:buFont typeface="Arial"/>
              <a:buChar char="•"/>
            </a:pPr>
            <a:r>
              <a:rPr lang="en-US" sz="3700" spc="-125">
                <a:solidFill>
                  <a:srgbClr val="012D3D"/>
                </a:solidFill>
                <a:latin typeface="Times New Roman MT"/>
                <a:ea typeface="Times New Roman MT"/>
                <a:cs typeface="Times New Roman MT"/>
                <a:sym typeface="Times New Roman MT"/>
              </a:rPr>
              <a:t>Study year-wise trends in cyber incidents.</a:t>
            </a:r>
          </a:p>
          <a:p>
            <a:pPr algn="l" marL="798831" indent="-399416" lvl="1">
              <a:lnSpc>
                <a:spcPts val="5180"/>
              </a:lnSpc>
              <a:buFont typeface="Arial"/>
              <a:buChar char="•"/>
            </a:pPr>
            <a:r>
              <a:rPr lang="en-US" sz="3700" spc="-125">
                <a:solidFill>
                  <a:srgbClr val="012D3D"/>
                </a:solidFill>
                <a:latin typeface="Times New Roman MT"/>
                <a:ea typeface="Times New Roman MT"/>
                <a:cs typeface="Times New Roman MT"/>
                <a:sym typeface="Times New Roman MT"/>
              </a:rPr>
              <a:t>Evaluate the financial impact of cyberattacks.</a:t>
            </a:r>
          </a:p>
        </p:txBody>
      </p:sp>
      <p:sp>
        <p:nvSpPr>
          <p:cNvPr name="TextBox 7" id="7"/>
          <p:cNvSpPr txBox="true"/>
          <p:nvPr/>
        </p:nvSpPr>
        <p:spPr>
          <a:xfrm rot="0">
            <a:off x="749001" y="316865"/>
            <a:ext cx="12963466" cy="1209678"/>
          </a:xfrm>
          <a:prstGeom prst="rect">
            <a:avLst/>
          </a:prstGeom>
        </p:spPr>
        <p:txBody>
          <a:bodyPr anchor="t" rtlCol="false" tIns="0" lIns="0" bIns="0" rIns="0">
            <a:spAutoFit/>
          </a:bodyPr>
          <a:lstStyle/>
          <a:p>
            <a:pPr algn="l">
              <a:lnSpc>
                <a:spcPts val="8175"/>
              </a:lnSpc>
            </a:pPr>
            <a:r>
              <a:rPr lang="en-US" b="true" sz="7500" spc="52" u="sng">
                <a:solidFill>
                  <a:srgbClr val="000000"/>
                </a:solidFill>
                <a:latin typeface="Times New Roman MT Bold"/>
                <a:ea typeface="Times New Roman MT Bold"/>
                <a:cs typeface="Times New Roman MT Bold"/>
                <a:sym typeface="Times New Roman MT Bold"/>
              </a:rPr>
              <a:t>PROJECT OVERVIEW</a:t>
            </a:r>
          </a:p>
        </p:txBody>
      </p:sp>
      <p:sp>
        <p:nvSpPr>
          <p:cNvPr name="TextBox 8" id="8"/>
          <p:cNvSpPr txBox="true"/>
          <p:nvPr/>
        </p:nvSpPr>
        <p:spPr>
          <a:xfrm rot="0">
            <a:off x="402092" y="9293048"/>
            <a:ext cx="17091312" cy="706120"/>
          </a:xfrm>
          <a:prstGeom prst="rect">
            <a:avLst/>
          </a:prstGeom>
        </p:spPr>
        <p:txBody>
          <a:bodyPr anchor="t" rtlCol="false" tIns="0" lIns="0" bIns="0" rIns="0">
            <a:spAutoFit/>
          </a:bodyPr>
          <a:lstStyle/>
          <a:p>
            <a:pPr algn="l" marL="798828" indent="-399414" lvl="1">
              <a:lnSpc>
                <a:spcPts val="5179"/>
              </a:lnSpc>
              <a:buFont typeface="Arial"/>
              <a:buChar char="•"/>
            </a:pPr>
            <a:r>
              <a:rPr lang="en-US" b="true" sz="3699">
                <a:solidFill>
                  <a:srgbClr val="000000"/>
                </a:solidFill>
                <a:latin typeface="Times New Roman MT Bold"/>
                <a:ea typeface="Times New Roman MT Bold"/>
                <a:cs typeface="Times New Roman MT Bold"/>
                <a:sym typeface="Times New Roman MT Bold"/>
              </a:rPr>
              <a:t>Tools And Libraries: </a:t>
            </a:r>
            <a:r>
              <a:rPr lang="en-US" sz="3699">
                <a:solidFill>
                  <a:srgbClr val="000000"/>
                </a:solidFill>
                <a:latin typeface="Times New Roman MT"/>
                <a:ea typeface="Times New Roman MT"/>
                <a:cs typeface="Times New Roman MT"/>
                <a:sym typeface="Times New Roman MT"/>
              </a:rPr>
              <a:t>Python,Pandas,numpy, matplotlib and Jupyter Notebook</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672876" y="4330150"/>
            <a:ext cx="10952172" cy="5649680"/>
          </a:xfrm>
          <a:custGeom>
            <a:avLst/>
            <a:gdLst/>
            <a:ahLst/>
            <a:cxnLst/>
            <a:rect r="r" b="b" t="t" l="l"/>
            <a:pathLst>
              <a:path h="5649680" w="10952172">
                <a:moveTo>
                  <a:pt x="0" y="0"/>
                </a:moveTo>
                <a:lnTo>
                  <a:pt x="10952172" y="0"/>
                </a:lnTo>
                <a:lnTo>
                  <a:pt x="10952172" y="5649680"/>
                </a:lnTo>
                <a:lnTo>
                  <a:pt x="0" y="5649680"/>
                </a:lnTo>
                <a:lnTo>
                  <a:pt x="0" y="0"/>
                </a:lnTo>
                <a:close/>
              </a:path>
            </a:pathLst>
          </a:custGeom>
          <a:blipFill>
            <a:blip r:embed="rId2"/>
            <a:stretch>
              <a:fillRect l="0" t="0" r="0" b="0"/>
            </a:stretch>
          </a:blipFill>
        </p:spPr>
      </p:sp>
      <p:sp>
        <p:nvSpPr>
          <p:cNvPr name="Freeform 3" id="3"/>
          <p:cNvSpPr/>
          <p:nvPr/>
        </p:nvSpPr>
        <p:spPr>
          <a:xfrm flipH="false" flipV="false" rot="0">
            <a:off x="11625048" y="4908906"/>
            <a:ext cx="6687945" cy="5378094"/>
          </a:xfrm>
          <a:custGeom>
            <a:avLst/>
            <a:gdLst/>
            <a:ahLst/>
            <a:cxnLst/>
            <a:rect r="r" b="b" t="t" l="l"/>
            <a:pathLst>
              <a:path h="5378094" w="6687945">
                <a:moveTo>
                  <a:pt x="0" y="0"/>
                </a:moveTo>
                <a:lnTo>
                  <a:pt x="6687945" y="0"/>
                </a:lnTo>
                <a:lnTo>
                  <a:pt x="6687945" y="5378094"/>
                </a:lnTo>
                <a:lnTo>
                  <a:pt x="0" y="5378094"/>
                </a:lnTo>
                <a:lnTo>
                  <a:pt x="0" y="0"/>
                </a:lnTo>
                <a:close/>
              </a:path>
            </a:pathLst>
          </a:custGeom>
          <a:blipFill>
            <a:blip r:embed="rId3"/>
            <a:stretch>
              <a:fillRect l="0" t="0" r="0" b="0"/>
            </a:stretch>
          </a:blipFill>
        </p:spPr>
      </p:sp>
      <p:sp>
        <p:nvSpPr>
          <p:cNvPr name="TextBox 4" id="4"/>
          <p:cNvSpPr txBox="true"/>
          <p:nvPr/>
        </p:nvSpPr>
        <p:spPr>
          <a:xfrm rot="0">
            <a:off x="672876" y="421640"/>
            <a:ext cx="12963466" cy="1104903"/>
          </a:xfrm>
          <a:prstGeom prst="rect">
            <a:avLst/>
          </a:prstGeom>
        </p:spPr>
        <p:txBody>
          <a:bodyPr anchor="t" rtlCol="false" tIns="0" lIns="0" bIns="0" rIns="0">
            <a:spAutoFit/>
          </a:bodyPr>
          <a:lstStyle/>
          <a:p>
            <a:pPr algn="l">
              <a:lnSpc>
                <a:spcPts val="8175"/>
              </a:lnSpc>
            </a:pPr>
            <a:r>
              <a:rPr lang="en-US" b="true" sz="7500" spc="52" u="sng">
                <a:solidFill>
                  <a:srgbClr val="000000"/>
                </a:solidFill>
                <a:latin typeface="Times New Roman Bold"/>
                <a:ea typeface="Times New Roman Bold"/>
                <a:cs typeface="Times New Roman Bold"/>
                <a:sym typeface="Times New Roman Bold"/>
              </a:rPr>
              <a:t>DATASET DESCRIPTION</a:t>
            </a:r>
          </a:p>
        </p:txBody>
      </p:sp>
      <p:sp>
        <p:nvSpPr>
          <p:cNvPr name="TextBox 5" id="5"/>
          <p:cNvSpPr txBox="true"/>
          <p:nvPr/>
        </p:nvSpPr>
        <p:spPr>
          <a:xfrm rot="0">
            <a:off x="481382" y="2031451"/>
            <a:ext cx="17325235" cy="2142489"/>
          </a:xfrm>
          <a:prstGeom prst="rect">
            <a:avLst/>
          </a:prstGeom>
        </p:spPr>
        <p:txBody>
          <a:bodyPr anchor="t" rtlCol="false" tIns="0" lIns="0" bIns="0" rIns="0">
            <a:spAutoFit/>
          </a:bodyPr>
          <a:lstStyle/>
          <a:p>
            <a:pPr algn="l" marL="798821" indent="-399411" lvl="1">
              <a:lnSpc>
                <a:spcPts val="4069"/>
              </a:lnSpc>
              <a:buFont typeface="Arial"/>
              <a:buChar char="•"/>
            </a:pPr>
            <a:r>
              <a:rPr lang="en-US" sz="3699" spc="-377">
                <a:solidFill>
                  <a:srgbClr val="000000"/>
                </a:solidFill>
                <a:latin typeface="Times New Roman MT"/>
                <a:ea typeface="Times New Roman MT"/>
                <a:cs typeface="Times New Roman MT"/>
                <a:sym typeface="Times New Roman MT"/>
              </a:rPr>
              <a:t>The dataset contains publicly reported cybersecurity incidents in India. It includes details such as year,  incident type, city, affected category, and financial loss. The dataset helps in understanding cyberattack patterns, affected sectors, and the economic impact of cybercrime.</a:t>
            </a:r>
          </a:p>
          <a:p>
            <a:pPr algn="l">
              <a:lnSpc>
                <a:spcPts val="4069"/>
              </a:lnSpc>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912300" y="4486122"/>
            <a:ext cx="7009260" cy="4953540"/>
          </a:xfrm>
          <a:custGeom>
            <a:avLst/>
            <a:gdLst/>
            <a:ahLst/>
            <a:cxnLst/>
            <a:rect r="r" b="b" t="t" l="l"/>
            <a:pathLst>
              <a:path h="4953540" w="7009260">
                <a:moveTo>
                  <a:pt x="0" y="0"/>
                </a:moveTo>
                <a:lnTo>
                  <a:pt x="7009259" y="0"/>
                </a:lnTo>
                <a:lnTo>
                  <a:pt x="7009259" y="4953540"/>
                </a:lnTo>
                <a:lnTo>
                  <a:pt x="0" y="4953540"/>
                </a:lnTo>
                <a:lnTo>
                  <a:pt x="0" y="0"/>
                </a:lnTo>
                <a:close/>
              </a:path>
            </a:pathLst>
          </a:custGeom>
          <a:blipFill>
            <a:blip r:embed="rId2"/>
            <a:stretch>
              <a:fillRect l="0" t="0" r="0" b="0"/>
            </a:stretch>
          </a:blipFill>
        </p:spPr>
      </p:sp>
      <p:sp>
        <p:nvSpPr>
          <p:cNvPr name="Freeform 3" id="3"/>
          <p:cNvSpPr/>
          <p:nvPr/>
        </p:nvSpPr>
        <p:spPr>
          <a:xfrm flipH="false" flipV="false" rot="0">
            <a:off x="8622200" y="3521019"/>
            <a:ext cx="7798032" cy="1930206"/>
          </a:xfrm>
          <a:custGeom>
            <a:avLst/>
            <a:gdLst/>
            <a:ahLst/>
            <a:cxnLst/>
            <a:rect r="r" b="b" t="t" l="l"/>
            <a:pathLst>
              <a:path h="1930206" w="7798032">
                <a:moveTo>
                  <a:pt x="0" y="0"/>
                </a:moveTo>
                <a:lnTo>
                  <a:pt x="7798032" y="0"/>
                </a:lnTo>
                <a:lnTo>
                  <a:pt x="7798032" y="1930206"/>
                </a:lnTo>
                <a:lnTo>
                  <a:pt x="0" y="1930206"/>
                </a:lnTo>
                <a:lnTo>
                  <a:pt x="0" y="0"/>
                </a:lnTo>
                <a:close/>
              </a:path>
            </a:pathLst>
          </a:custGeom>
          <a:blipFill>
            <a:blip r:embed="rId3"/>
            <a:stretch>
              <a:fillRect l="0" t="0" r="0" b="0"/>
            </a:stretch>
          </a:blipFill>
        </p:spPr>
      </p:sp>
      <p:sp>
        <p:nvSpPr>
          <p:cNvPr name="Freeform 4" id="4"/>
          <p:cNvSpPr/>
          <p:nvPr/>
        </p:nvSpPr>
        <p:spPr>
          <a:xfrm flipH="false" flipV="false" rot="0">
            <a:off x="8622200" y="5451225"/>
            <a:ext cx="8323272" cy="4516898"/>
          </a:xfrm>
          <a:custGeom>
            <a:avLst/>
            <a:gdLst/>
            <a:ahLst/>
            <a:cxnLst/>
            <a:rect r="r" b="b" t="t" l="l"/>
            <a:pathLst>
              <a:path h="4516898" w="8323272">
                <a:moveTo>
                  <a:pt x="0" y="0"/>
                </a:moveTo>
                <a:lnTo>
                  <a:pt x="8323272" y="0"/>
                </a:lnTo>
                <a:lnTo>
                  <a:pt x="8323272" y="4516897"/>
                </a:lnTo>
                <a:lnTo>
                  <a:pt x="0" y="4516897"/>
                </a:lnTo>
                <a:lnTo>
                  <a:pt x="0" y="0"/>
                </a:lnTo>
                <a:close/>
              </a:path>
            </a:pathLst>
          </a:custGeom>
          <a:blipFill>
            <a:blip r:embed="rId4"/>
            <a:stretch>
              <a:fillRect l="0" t="0" r="0" b="0"/>
            </a:stretch>
          </a:blipFill>
        </p:spPr>
      </p:sp>
      <p:sp>
        <p:nvSpPr>
          <p:cNvPr name="TextBox 5" id="5"/>
          <p:cNvSpPr txBox="true"/>
          <p:nvPr/>
        </p:nvSpPr>
        <p:spPr>
          <a:xfrm rot="0">
            <a:off x="456150" y="1957546"/>
            <a:ext cx="17375700" cy="1113789"/>
          </a:xfrm>
          <a:prstGeom prst="rect">
            <a:avLst/>
          </a:prstGeom>
        </p:spPr>
        <p:txBody>
          <a:bodyPr anchor="t" rtlCol="false" tIns="0" lIns="0" bIns="0" rIns="0">
            <a:spAutoFit/>
          </a:bodyPr>
          <a:lstStyle/>
          <a:p>
            <a:pPr algn="l" marL="798821" indent="-399411" lvl="1">
              <a:lnSpc>
                <a:spcPts val="4069"/>
              </a:lnSpc>
              <a:buFont typeface="Arial"/>
              <a:buChar char="•"/>
            </a:pPr>
            <a:r>
              <a:rPr lang="en-US" sz="3699" spc="-377">
                <a:solidFill>
                  <a:srgbClr val="000000"/>
                </a:solidFill>
                <a:latin typeface="Times New Roman MT"/>
                <a:ea typeface="Times New Roman MT"/>
                <a:cs typeface="Times New Roman MT"/>
                <a:sym typeface="Times New Roman MT"/>
              </a:rPr>
              <a:t>We perform data preprocesing to prepare the datsset for analysis.. we check whether the data set contains null or duplicate values.</a:t>
            </a:r>
          </a:p>
        </p:txBody>
      </p:sp>
      <p:sp>
        <p:nvSpPr>
          <p:cNvPr name="TextBox 6" id="6"/>
          <p:cNvSpPr txBox="true"/>
          <p:nvPr/>
        </p:nvSpPr>
        <p:spPr>
          <a:xfrm rot="0">
            <a:off x="912300" y="336284"/>
            <a:ext cx="14267965" cy="1209678"/>
          </a:xfrm>
          <a:prstGeom prst="rect">
            <a:avLst/>
          </a:prstGeom>
        </p:spPr>
        <p:txBody>
          <a:bodyPr anchor="t" rtlCol="false" tIns="0" lIns="0" bIns="0" rIns="0">
            <a:spAutoFit/>
          </a:bodyPr>
          <a:lstStyle/>
          <a:p>
            <a:pPr algn="l">
              <a:lnSpc>
                <a:spcPts val="8175"/>
              </a:lnSpc>
            </a:pPr>
            <a:r>
              <a:rPr lang="en-US" b="true" sz="7500" spc="52" u="sng">
                <a:solidFill>
                  <a:srgbClr val="000000"/>
                </a:solidFill>
                <a:latin typeface="Times New Roman MT Bold"/>
                <a:ea typeface="Times New Roman MT Bold"/>
                <a:cs typeface="Times New Roman MT Bold"/>
                <a:sym typeface="Times New Roman MT Bold"/>
              </a:rPr>
              <a:t>DATASET DESCRIPTION</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759019" y="3184998"/>
            <a:ext cx="10769962" cy="7499785"/>
          </a:xfrm>
          <a:custGeom>
            <a:avLst/>
            <a:gdLst/>
            <a:ahLst/>
            <a:cxnLst/>
            <a:rect r="r" b="b" t="t" l="l"/>
            <a:pathLst>
              <a:path h="7499785" w="10769962">
                <a:moveTo>
                  <a:pt x="0" y="0"/>
                </a:moveTo>
                <a:lnTo>
                  <a:pt x="10769962" y="0"/>
                </a:lnTo>
                <a:lnTo>
                  <a:pt x="10769962" y="7499786"/>
                </a:lnTo>
                <a:lnTo>
                  <a:pt x="0" y="7499786"/>
                </a:lnTo>
                <a:lnTo>
                  <a:pt x="0" y="0"/>
                </a:lnTo>
                <a:close/>
              </a:path>
            </a:pathLst>
          </a:custGeom>
          <a:blipFill>
            <a:blip r:embed="rId2"/>
            <a:stretch>
              <a:fillRect l="0" t="0" r="0" b="0"/>
            </a:stretch>
          </a:blipFill>
        </p:spPr>
      </p:sp>
      <p:sp>
        <p:nvSpPr>
          <p:cNvPr name="TextBox 3" id="3"/>
          <p:cNvSpPr txBox="true"/>
          <p:nvPr/>
        </p:nvSpPr>
        <p:spPr>
          <a:xfrm rot="0">
            <a:off x="622411" y="1823189"/>
            <a:ext cx="15306148" cy="1113789"/>
          </a:xfrm>
          <a:prstGeom prst="rect">
            <a:avLst/>
          </a:prstGeom>
        </p:spPr>
        <p:txBody>
          <a:bodyPr anchor="t" rtlCol="false" tIns="0" lIns="0" bIns="0" rIns="0">
            <a:spAutoFit/>
          </a:bodyPr>
          <a:lstStyle/>
          <a:p>
            <a:pPr algn="l" marL="798821" indent="-399411" lvl="1">
              <a:lnSpc>
                <a:spcPts val="4069"/>
              </a:lnSpc>
              <a:buFont typeface="Arial"/>
              <a:buChar char="•"/>
            </a:pPr>
            <a:r>
              <a:rPr lang="en-US" sz="3699" spc="-377">
                <a:solidFill>
                  <a:srgbClr val="000000"/>
                </a:solidFill>
                <a:latin typeface="Times New Roman MT"/>
                <a:ea typeface="Times New Roman MT"/>
                <a:cs typeface="Times New Roman MT"/>
                <a:sym typeface="Times New Roman MT"/>
              </a:rPr>
              <a:t>The dataset was analyzed to identify the categories most affected by cyberattacks .</a:t>
            </a:r>
          </a:p>
          <a:p>
            <a:pPr algn="l" marL="798821" indent="-399411" lvl="1">
              <a:lnSpc>
                <a:spcPts val="4069"/>
              </a:lnSpc>
              <a:buFont typeface="Arial"/>
              <a:buChar char="•"/>
            </a:pPr>
            <a:r>
              <a:rPr lang="en-US" sz="3699" spc="-377">
                <a:solidFill>
                  <a:srgbClr val="000000"/>
                </a:solidFill>
                <a:latin typeface="Times New Roman MT"/>
                <a:ea typeface="Times New Roman MT"/>
                <a:cs typeface="Times New Roman MT"/>
                <a:sym typeface="Times New Roman MT"/>
              </a:rPr>
              <a:t>Incident frequencies were calculated and visualized using bar charts.</a:t>
            </a:r>
          </a:p>
        </p:txBody>
      </p:sp>
      <p:sp>
        <p:nvSpPr>
          <p:cNvPr name="TextBox 4" id="4"/>
          <p:cNvSpPr txBox="true"/>
          <p:nvPr/>
        </p:nvSpPr>
        <p:spPr>
          <a:xfrm rot="0">
            <a:off x="912300" y="336284"/>
            <a:ext cx="15688421" cy="1209678"/>
          </a:xfrm>
          <a:prstGeom prst="rect">
            <a:avLst/>
          </a:prstGeom>
        </p:spPr>
        <p:txBody>
          <a:bodyPr anchor="t" rtlCol="false" tIns="0" lIns="0" bIns="0" rIns="0">
            <a:spAutoFit/>
          </a:bodyPr>
          <a:lstStyle/>
          <a:p>
            <a:pPr algn="l">
              <a:lnSpc>
                <a:spcPts val="8175"/>
              </a:lnSpc>
            </a:pPr>
            <a:r>
              <a:rPr lang="en-US" b="true" sz="7500" spc="52" u="sng">
                <a:solidFill>
                  <a:srgbClr val="000000"/>
                </a:solidFill>
                <a:latin typeface="Times New Roman MT Bold"/>
                <a:ea typeface="Times New Roman MT Bold"/>
                <a:cs typeface="Times New Roman MT Bold"/>
                <a:sym typeface="Times New Roman MT Bold"/>
              </a:rPr>
              <a:t>INCIDENTS BY CATEGORY</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936028" y="6046003"/>
            <a:ext cx="8207972" cy="1362457"/>
          </a:xfrm>
          <a:custGeom>
            <a:avLst/>
            <a:gdLst/>
            <a:ahLst/>
            <a:cxnLst/>
            <a:rect r="r" b="b" t="t" l="l"/>
            <a:pathLst>
              <a:path h="1362457" w="8207972">
                <a:moveTo>
                  <a:pt x="0" y="0"/>
                </a:moveTo>
                <a:lnTo>
                  <a:pt x="8207972" y="0"/>
                </a:lnTo>
                <a:lnTo>
                  <a:pt x="8207972" y="1362457"/>
                </a:lnTo>
                <a:lnTo>
                  <a:pt x="0" y="1362457"/>
                </a:lnTo>
                <a:lnTo>
                  <a:pt x="0" y="0"/>
                </a:lnTo>
                <a:close/>
              </a:path>
            </a:pathLst>
          </a:custGeom>
          <a:blipFill>
            <a:blip r:embed="rId2"/>
            <a:stretch>
              <a:fillRect l="0" t="0" r="0" b="0"/>
            </a:stretch>
          </a:blipFill>
        </p:spPr>
      </p:sp>
      <p:sp>
        <p:nvSpPr>
          <p:cNvPr name="Freeform 3" id="3"/>
          <p:cNvSpPr/>
          <p:nvPr/>
        </p:nvSpPr>
        <p:spPr>
          <a:xfrm flipH="false" flipV="false" rot="0">
            <a:off x="9409813" y="3056517"/>
            <a:ext cx="7118959" cy="6941232"/>
          </a:xfrm>
          <a:custGeom>
            <a:avLst/>
            <a:gdLst/>
            <a:ahLst/>
            <a:cxnLst/>
            <a:rect r="r" b="b" t="t" l="l"/>
            <a:pathLst>
              <a:path h="6941232" w="7118959">
                <a:moveTo>
                  <a:pt x="0" y="0"/>
                </a:moveTo>
                <a:lnTo>
                  <a:pt x="7118959" y="0"/>
                </a:lnTo>
                <a:lnTo>
                  <a:pt x="7118959" y="6941231"/>
                </a:lnTo>
                <a:lnTo>
                  <a:pt x="0" y="6941231"/>
                </a:lnTo>
                <a:lnTo>
                  <a:pt x="0" y="0"/>
                </a:lnTo>
                <a:close/>
              </a:path>
            </a:pathLst>
          </a:custGeom>
          <a:blipFill>
            <a:blip r:embed="rId3"/>
            <a:stretch>
              <a:fillRect l="0" t="0" r="0" b="0"/>
            </a:stretch>
          </a:blipFill>
        </p:spPr>
      </p:sp>
      <p:sp>
        <p:nvSpPr>
          <p:cNvPr name="TextBox 4" id="4"/>
          <p:cNvSpPr txBox="true"/>
          <p:nvPr/>
        </p:nvSpPr>
        <p:spPr>
          <a:xfrm rot="0">
            <a:off x="598188" y="1942727"/>
            <a:ext cx="15306148" cy="1113789"/>
          </a:xfrm>
          <a:prstGeom prst="rect">
            <a:avLst/>
          </a:prstGeom>
        </p:spPr>
        <p:txBody>
          <a:bodyPr anchor="t" rtlCol="false" tIns="0" lIns="0" bIns="0" rIns="0">
            <a:spAutoFit/>
          </a:bodyPr>
          <a:lstStyle/>
          <a:p>
            <a:pPr algn="l" marL="798821" indent="-399411" lvl="1">
              <a:lnSpc>
                <a:spcPts val="4069"/>
              </a:lnSpc>
              <a:buFont typeface="Arial"/>
              <a:buChar char="•"/>
            </a:pPr>
            <a:r>
              <a:rPr lang="en-US" sz="3699" spc="-377">
                <a:solidFill>
                  <a:srgbClr val="000000"/>
                </a:solidFill>
                <a:latin typeface="Times New Roman MT"/>
                <a:ea typeface="Times New Roman MT"/>
                <a:cs typeface="Times New Roman MT"/>
                <a:sym typeface="Times New Roman MT"/>
              </a:rPr>
              <a:t>Different cyberattack types were analyzed to determine the most common threats .</a:t>
            </a:r>
          </a:p>
          <a:p>
            <a:pPr algn="l" marL="798821" indent="-399411" lvl="1">
              <a:lnSpc>
                <a:spcPts val="4069"/>
              </a:lnSpc>
              <a:buFont typeface="Arial"/>
              <a:buChar char="•"/>
            </a:pPr>
            <a:r>
              <a:rPr lang="en-US" sz="3699" spc="-377">
                <a:solidFill>
                  <a:srgbClr val="000000"/>
                </a:solidFill>
                <a:latin typeface="Times New Roman MT"/>
                <a:ea typeface="Times New Roman MT"/>
                <a:cs typeface="Times New Roman MT"/>
                <a:sym typeface="Times New Roman MT"/>
              </a:rPr>
              <a:t>Results were visualized for easy comparison .</a:t>
            </a:r>
          </a:p>
        </p:txBody>
      </p:sp>
      <p:sp>
        <p:nvSpPr>
          <p:cNvPr name="TextBox 5" id="5"/>
          <p:cNvSpPr txBox="true"/>
          <p:nvPr/>
        </p:nvSpPr>
        <p:spPr>
          <a:xfrm rot="0">
            <a:off x="1028700" y="380626"/>
            <a:ext cx="15688421" cy="1209678"/>
          </a:xfrm>
          <a:prstGeom prst="rect">
            <a:avLst/>
          </a:prstGeom>
        </p:spPr>
        <p:txBody>
          <a:bodyPr anchor="t" rtlCol="false" tIns="0" lIns="0" bIns="0" rIns="0">
            <a:spAutoFit/>
          </a:bodyPr>
          <a:lstStyle/>
          <a:p>
            <a:pPr algn="l">
              <a:lnSpc>
                <a:spcPts val="8175"/>
              </a:lnSpc>
            </a:pPr>
            <a:r>
              <a:rPr lang="en-US" b="true" sz="7500" spc="52" u="sng">
                <a:solidFill>
                  <a:srgbClr val="000000"/>
                </a:solidFill>
                <a:latin typeface="Times New Roman MT Bold"/>
                <a:ea typeface="Times New Roman MT Bold"/>
                <a:cs typeface="Times New Roman MT Bold"/>
                <a:sym typeface="Times New Roman MT Bold"/>
              </a:rPr>
              <a:t>INCIDENTS BY INCIDENT TYPE</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230233" y="4747927"/>
            <a:ext cx="6681539" cy="2756315"/>
          </a:xfrm>
          <a:custGeom>
            <a:avLst/>
            <a:gdLst/>
            <a:ahLst/>
            <a:cxnLst/>
            <a:rect r="r" b="b" t="t" l="l"/>
            <a:pathLst>
              <a:path h="2756315" w="6681539">
                <a:moveTo>
                  <a:pt x="0" y="0"/>
                </a:moveTo>
                <a:lnTo>
                  <a:pt x="6681539" y="0"/>
                </a:lnTo>
                <a:lnTo>
                  <a:pt x="6681539" y="2756316"/>
                </a:lnTo>
                <a:lnTo>
                  <a:pt x="0" y="2756316"/>
                </a:lnTo>
                <a:lnTo>
                  <a:pt x="0" y="0"/>
                </a:lnTo>
                <a:close/>
              </a:path>
            </a:pathLst>
          </a:custGeom>
          <a:blipFill>
            <a:blip r:embed="rId2"/>
            <a:stretch>
              <a:fillRect l="0" t="0" r="0" b="0"/>
            </a:stretch>
          </a:blipFill>
        </p:spPr>
      </p:sp>
      <p:sp>
        <p:nvSpPr>
          <p:cNvPr name="Freeform 3" id="3"/>
          <p:cNvSpPr/>
          <p:nvPr/>
        </p:nvSpPr>
        <p:spPr>
          <a:xfrm flipH="false" flipV="false" rot="0">
            <a:off x="8106843" y="2739257"/>
            <a:ext cx="9943212" cy="7482267"/>
          </a:xfrm>
          <a:custGeom>
            <a:avLst/>
            <a:gdLst/>
            <a:ahLst/>
            <a:cxnLst/>
            <a:rect r="r" b="b" t="t" l="l"/>
            <a:pathLst>
              <a:path h="7482267" w="9943212">
                <a:moveTo>
                  <a:pt x="0" y="0"/>
                </a:moveTo>
                <a:lnTo>
                  <a:pt x="9943212" y="0"/>
                </a:lnTo>
                <a:lnTo>
                  <a:pt x="9943212" y="7482267"/>
                </a:lnTo>
                <a:lnTo>
                  <a:pt x="0" y="7482267"/>
                </a:lnTo>
                <a:lnTo>
                  <a:pt x="0" y="0"/>
                </a:lnTo>
                <a:close/>
              </a:path>
            </a:pathLst>
          </a:custGeom>
          <a:blipFill>
            <a:blip r:embed="rId3"/>
            <a:stretch>
              <a:fillRect l="0" t="0" r="0" b="0"/>
            </a:stretch>
          </a:blipFill>
        </p:spPr>
      </p:sp>
      <p:sp>
        <p:nvSpPr>
          <p:cNvPr name="TextBox 4" id="4"/>
          <p:cNvSpPr txBox="true"/>
          <p:nvPr/>
        </p:nvSpPr>
        <p:spPr>
          <a:xfrm rot="0">
            <a:off x="453769" y="1625467"/>
            <a:ext cx="15306148" cy="1113789"/>
          </a:xfrm>
          <a:prstGeom prst="rect">
            <a:avLst/>
          </a:prstGeom>
        </p:spPr>
        <p:txBody>
          <a:bodyPr anchor="t" rtlCol="false" tIns="0" lIns="0" bIns="0" rIns="0">
            <a:spAutoFit/>
          </a:bodyPr>
          <a:lstStyle/>
          <a:p>
            <a:pPr algn="l" marL="798821" indent="-399411" lvl="1">
              <a:lnSpc>
                <a:spcPts val="4069"/>
              </a:lnSpc>
              <a:buFont typeface="Arial"/>
              <a:buChar char="•"/>
            </a:pPr>
            <a:r>
              <a:rPr lang="en-US" sz="3699" spc="-377">
                <a:solidFill>
                  <a:srgbClr val="000000"/>
                </a:solidFill>
                <a:latin typeface="Times New Roman MT"/>
                <a:ea typeface="Times New Roman MT"/>
                <a:cs typeface="Times New Roman MT"/>
                <a:sym typeface="Times New Roman MT"/>
              </a:rPr>
              <a:t>Cyber incidents were analyzed across cities.</a:t>
            </a:r>
          </a:p>
          <a:p>
            <a:pPr algn="l" marL="798821" indent="-399411" lvl="1">
              <a:lnSpc>
                <a:spcPts val="4069"/>
              </a:lnSpc>
              <a:buFont typeface="Arial"/>
              <a:buChar char="•"/>
            </a:pPr>
            <a:r>
              <a:rPr lang="en-US" sz="3699" spc="-377">
                <a:solidFill>
                  <a:srgbClr val="000000"/>
                </a:solidFill>
                <a:latin typeface="Times New Roman MT"/>
                <a:ea typeface="Times New Roman MT"/>
                <a:cs typeface="Times New Roman MT"/>
                <a:sym typeface="Times New Roman MT"/>
              </a:rPr>
              <a:t>The most affected cities were identified.</a:t>
            </a:r>
          </a:p>
        </p:txBody>
      </p:sp>
      <p:sp>
        <p:nvSpPr>
          <p:cNvPr name="TextBox 5" id="5"/>
          <p:cNvSpPr txBox="true"/>
          <p:nvPr/>
        </p:nvSpPr>
        <p:spPr>
          <a:xfrm rot="0">
            <a:off x="1028700" y="380626"/>
            <a:ext cx="15688421" cy="1209678"/>
          </a:xfrm>
          <a:prstGeom prst="rect">
            <a:avLst/>
          </a:prstGeom>
        </p:spPr>
        <p:txBody>
          <a:bodyPr anchor="t" rtlCol="false" tIns="0" lIns="0" bIns="0" rIns="0">
            <a:spAutoFit/>
          </a:bodyPr>
          <a:lstStyle/>
          <a:p>
            <a:pPr algn="l">
              <a:lnSpc>
                <a:spcPts val="8175"/>
              </a:lnSpc>
            </a:pPr>
            <a:r>
              <a:rPr lang="en-US" b="true" sz="7500" spc="52" u="sng">
                <a:solidFill>
                  <a:srgbClr val="000000"/>
                </a:solidFill>
                <a:latin typeface="Times New Roman MT Bold"/>
                <a:ea typeface="Times New Roman MT Bold"/>
                <a:cs typeface="Times New Roman MT Bold"/>
                <a:sym typeface="Times New Roman MT Bold"/>
              </a:rPr>
              <a:t>INCIDENTS BY CITY WISE</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4630391"/>
            <a:ext cx="8389120" cy="2026811"/>
          </a:xfrm>
          <a:custGeom>
            <a:avLst/>
            <a:gdLst/>
            <a:ahLst/>
            <a:cxnLst/>
            <a:rect r="r" b="b" t="t" l="l"/>
            <a:pathLst>
              <a:path h="2026811" w="8389120">
                <a:moveTo>
                  <a:pt x="0" y="0"/>
                </a:moveTo>
                <a:lnTo>
                  <a:pt x="8389120" y="0"/>
                </a:lnTo>
                <a:lnTo>
                  <a:pt x="8389120" y="2026811"/>
                </a:lnTo>
                <a:lnTo>
                  <a:pt x="0" y="2026811"/>
                </a:lnTo>
                <a:lnTo>
                  <a:pt x="0" y="0"/>
                </a:lnTo>
                <a:close/>
              </a:path>
            </a:pathLst>
          </a:custGeom>
          <a:blipFill>
            <a:blip r:embed="rId2"/>
            <a:stretch>
              <a:fillRect l="0" t="0" r="0" b="0"/>
            </a:stretch>
          </a:blipFill>
        </p:spPr>
      </p:sp>
      <p:sp>
        <p:nvSpPr>
          <p:cNvPr name="Freeform 3" id="3"/>
          <p:cNvSpPr/>
          <p:nvPr/>
        </p:nvSpPr>
        <p:spPr>
          <a:xfrm flipH="false" flipV="false" rot="0">
            <a:off x="9417820" y="2370821"/>
            <a:ext cx="9156063" cy="7916179"/>
          </a:xfrm>
          <a:custGeom>
            <a:avLst/>
            <a:gdLst/>
            <a:ahLst/>
            <a:cxnLst/>
            <a:rect r="r" b="b" t="t" l="l"/>
            <a:pathLst>
              <a:path h="7916179" w="9156063">
                <a:moveTo>
                  <a:pt x="0" y="0"/>
                </a:moveTo>
                <a:lnTo>
                  <a:pt x="9156063" y="0"/>
                </a:lnTo>
                <a:lnTo>
                  <a:pt x="9156063" y="7916179"/>
                </a:lnTo>
                <a:lnTo>
                  <a:pt x="0" y="7916179"/>
                </a:lnTo>
                <a:lnTo>
                  <a:pt x="0" y="0"/>
                </a:lnTo>
                <a:close/>
              </a:path>
            </a:pathLst>
          </a:custGeom>
          <a:blipFill>
            <a:blip r:embed="rId3"/>
            <a:stretch>
              <a:fillRect l="0" t="0" r="0" b="0"/>
            </a:stretch>
          </a:blipFill>
        </p:spPr>
      </p:sp>
      <p:sp>
        <p:nvSpPr>
          <p:cNvPr name="TextBox 4" id="4"/>
          <p:cNvSpPr txBox="true"/>
          <p:nvPr/>
        </p:nvSpPr>
        <p:spPr>
          <a:xfrm rot="0">
            <a:off x="517467" y="1552204"/>
            <a:ext cx="15306148" cy="1113789"/>
          </a:xfrm>
          <a:prstGeom prst="rect">
            <a:avLst/>
          </a:prstGeom>
        </p:spPr>
        <p:txBody>
          <a:bodyPr anchor="t" rtlCol="false" tIns="0" lIns="0" bIns="0" rIns="0">
            <a:spAutoFit/>
          </a:bodyPr>
          <a:lstStyle/>
          <a:p>
            <a:pPr algn="l" marL="798821" indent="-399411" lvl="1">
              <a:lnSpc>
                <a:spcPts val="4069"/>
              </a:lnSpc>
              <a:buFont typeface="Arial"/>
              <a:buChar char="•"/>
            </a:pPr>
            <a:r>
              <a:rPr lang="en-US" sz="3699" spc="-377">
                <a:solidFill>
                  <a:srgbClr val="000000"/>
                </a:solidFill>
                <a:latin typeface="Times New Roman MT"/>
                <a:ea typeface="Times New Roman MT"/>
                <a:cs typeface="Times New Roman MT"/>
                <a:sym typeface="Times New Roman MT"/>
              </a:rPr>
              <a:t>Financial losses caused by cyber incidents were calculated.</a:t>
            </a:r>
          </a:p>
          <a:p>
            <a:pPr algn="l" marL="798821" indent="-399411" lvl="1">
              <a:lnSpc>
                <a:spcPts val="4069"/>
              </a:lnSpc>
              <a:buFont typeface="Arial"/>
              <a:buChar char="•"/>
            </a:pPr>
            <a:r>
              <a:rPr lang="en-US" sz="3699" spc="-377">
                <a:solidFill>
                  <a:srgbClr val="000000"/>
                </a:solidFill>
                <a:latin typeface="Times New Roman MT"/>
                <a:ea typeface="Times New Roman MT"/>
                <a:cs typeface="Times New Roman MT"/>
                <a:sym typeface="Times New Roman MT"/>
              </a:rPr>
              <a:t>Category wise loss distribution was examined.</a:t>
            </a:r>
          </a:p>
        </p:txBody>
      </p:sp>
      <p:sp>
        <p:nvSpPr>
          <p:cNvPr name="TextBox 5" id="5"/>
          <p:cNvSpPr txBox="true"/>
          <p:nvPr/>
        </p:nvSpPr>
        <p:spPr>
          <a:xfrm rot="0">
            <a:off x="1028700" y="380626"/>
            <a:ext cx="15688421" cy="1209678"/>
          </a:xfrm>
          <a:prstGeom prst="rect">
            <a:avLst/>
          </a:prstGeom>
        </p:spPr>
        <p:txBody>
          <a:bodyPr anchor="t" rtlCol="false" tIns="0" lIns="0" bIns="0" rIns="0">
            <a:spAutoFit/>
          </a:bodyPr>
          <a:lstStyle/>
          <a:p>
            <a:pPr algn="l">
              <a:lnSpc>
                <a:spcPts val="8175"/>
              </a:lnSpc>
            </a:pPr>
            <a:r>
              <a:rPr lang="en-US" b="true" sz="7500" spc="52" u="sng">
                <a:solidFill>
                  <a:srgbClr val="000000"/>
                </a:solidFill>
                <a:latin typeface="Times New Roman MT Bold"/>
                <a:ea typeface="Times New Roman MT Bold"/>
                <a:cs typeface="Times New Roman MT Bold"/>
                <a:sym typeface="Times New Roman MT Bold"/>
              </a:rPr>
              <a:t>FINANCIAL LOSS ANALYSIS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805857" y="5143500"/>
            <a:ext cx="8338143" cy="1233705"/>
          </a:xfrm>
          <a:custGeom>
            <a:avLst/>
            <a:gdLst/>
            <a:ahLst/>
            <a:cxnLst/>
            <a:rect r="r" b="b" t="t" l="l"/>
            <a:pathLst>
              <a:path h="1233705" w="8338143">
                <a:moveTo>
                  <a:pt x="0" y="0"/>
                </a:moveTo>
                <a:lnTo>
                  <a:pt x="8338143" y="0"/>
                </a:lnTo>
                <a:lnTo>
                  <a:pt x="8338143" y="1233705"/>
                </a:lnTo>
                <a:lnTo>
                  <a:pt x="0" y="1233705"/>
                </a:lnTo>
                <a:lnTo>
                  <a:pt x="0" y="0"/>
                </a:lnTo>
                <a:close/>
              </a:path>
            </a:pathLst>
          </a:custGeom>
          <a:blipFill>
            <a:blip r:embed="rId2"/>
            <a:stretch>
              <a:fillRect l="0" t="0" r="0" b="0"/>
            </a:stretch>
          </a:blipFill>
        </p:spPr>
      </p:sp>
      <p:sp>
        <p:nvSpPr>
          <p:cNvPr name="Freeform 3" id="3"/>
          <p:cNvSpPr/>
          <p:nvPr/>
        </p:nvSpPr>
        <p:spPr>
          <a:xfrm flipH="false" flipV="false" rot="0">
            <a:off x="8143634" y="2338253"/>
            <a:ext cx="11314942" cy="7948747"/>
          </a:xfrm>
          <a:custGeom>
            <a:avLst/>
            <a:gdLst/>
            <a:ahLst/>
            <a:cxnLst/>
            <a:rect r="r" b="b" t="t" l="l"/>
            <a:pathLst>
              <a:path h="7948747" w="11314942">
                <a:moveTo>
                  <a:pt x="0" y="0"/>
                </a:moveTo>
                <a:lnTo>
                  <a:pt x="11314942" y="0"/>
                </a:lnTo>
                <a:lnTo>
                  <a:pt x="11314942" y="7948747"/>
                </a:lnTo>
                <a:lnTo>
                  <a:pt x="0" y="7948747"/>
                </a:lnTo>
                <a:lnTo>
                  <a:pt x="0" y="0"/>
                </a:lnTo>
                <a:close/>
              </a:path>
            </a:pathLst>
          </a:custGeom>
          <a:blipFill>
            <a:blip r:embed="rId3"/>
            <a:stretch>
              <a:fillRect l="0" t="0" r="0" b="0"/>
            </a:stretch>
          </a:blipFill>
        </p:spPr>
      </p:sp>
      <p:sp>
        <p:nvSpPr>
          <p:cNvPr name="TextBox 4" id="4"/>
          <p:cNvSpPr txBox="true"/>
          <p:nvPr/>
        </p:nvSpPr>
        <p:spPr>
          <a:xfrm rot="0">
            <a:off x="490560" y="1625467"/>
            <a:ext cx="15306148" cy="1113789"/>
          </a:xfrm>
          <a:prstGeom prst="rect">
            <a:avLst/>
          </a:prstGeom>
        </p:spPr>
        <p:txBody>
          <a:bodyPr anchor="t" rtlCol="false" tIns="0" lIns="0" bIns="0" rIns="0">
            <a:spAutoFit/>
          </a:bodyPr>
          <a:lstStyle/>
          <a:p>
            <a:pPr algn="l" marL="798821" indent="-399411" lvl="1">
              <a:lnSpc>
                <a:spcPts val="4069"/>
              </a:lnSpc>
              <a:buFont typeface="Arial"/>
              <a:buChar char="•"/>
            </a:pPr>
            <a:r>
              <a:rPr lang="en-US" sz="3699" spc="-377">
                <a:solidFill>
                  <a:srgbClr val="000000"/>
                </a:solidFill>
                <a:latin typeface="Times New Roman MT"/>
                <a:ea typeface="Times New Roman MT"/>
                <a:cs typeface="Times New Roman MT"/>
                <a:sym typeface="Times New Roman MT"/>
              </a:rPr>
              <a:t>Cyber incidents were analyzed across different years.</a:t>
            </a:r>
          </a:p>
          <a:p>
            <a:pPr algn="l" marL="798821" indent="-399411" lvl="1">
              <a:lnSpc>
                <a:spcPts val="4069"/>
              </a:lnSpc>
              <a:buFont typeface="Arial"/>
              <a:buChar char="•"/>
            </a:pPr>
            <a:r>
              <a:rPr lang="en-US" sz="3699" spc="-377">
                <a:solidFill>
                  <a:srgbClr val="000000"/>
                </a:solidFill>
                <a:latin typeface="Times New Roman MT"/>
                <a:ea typeface="Times New Roman MT"/>
                <a:cs typeface="Times New Roman MT"/>
                <a:sym typeface="Times New Roman MT"/>
              </a:rPr>
              <a:t>Trends were visualized using line charts.</a:t>
            </a:r>
          </a:p>
        </p:txBody>
      </p:sp>
      <p:sp>
        <p:nvSpPr>
          <p:cNvPr name="TextBox 5" id="5"/>
          <p:cNvSpPr txBox="true"/>
          <p:nvPr/>
        </p:nvSpPr>
        <p:spPr>
          <a:xfrm rot="0">
            <a:off x="1028700" y="380626"/>
            <a:ext cx="17259300" cy="1209678"/>
          </a:xfrm>
          <a:prstGeom prst="rect">
            <a:avLst/>
          </a:prstGeom>
        </p:spPr>
        <p:txBody>
          <a:bodyPr anchor="t" rtlCol="false" tIns="0" lIns="0" bIns="0" rIns="0">
            <a:spAutoFit/>
          </a:bodyPr>
          <a:lstStyle/>
          <a:p>
            <a:pPr algn="l">
              <a:lnSpc>
                <a:spcPts val="8175"/>
              </a:lnSpc>
            </a:pPr>
            <a:r>
              <a:rPr lang="en-US" b="true" sz="7500" spc="52" u="sng">
                <a:solidFill>
                  <a:srgbClr val="000000"/>
                </a:solidFill>
                <a:latin typeface="Times New Roman MT Bold"/>
                <a:ea typeface="Times New Roman MT Bold"/>
                <a:cs typeface="Times New Roman MT Bold"/>
                <a:sym typeface="Times New Roman MT Bold"/>
              </a:rPr>
              <a:t>YEAR-WISE TREND ANALYSIS</a:t>
            </a:r>
          </a:p>
        </p:txBody>
      </p:sp>
    </p:spTree>
  </p:cSld>
  <p:clrMapOvr>
    <a:masterClrMapping/>
  </p:clrMapOvr>
</p:sld>
</file>

<file path=ppt/slides/slide10.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380626"/>
            <a:ext cx="17259300" cy="1209678"/>
          </a:xfrm>
          <a:prstGeom prst="rect">
            <a:avLst/>
          </a:prstGeom>
        </p:spPr>
        <p:txBody>
          <a:bodyPr anchor="t" rtlCol="false" tIns="0" lIns="0" bIns="0" rIns="0">
            <a:spAutoFit/>
          </a:bodyPr>
          <a:lstStyle/>
          <a:p>
            <a:pPr algn="l">
              <a:lnSpc>
                <a:spcPts val="8175"/>
              </a:lnSpc>
            </a:pPr>
            <a:r>
              <a:rPr lang="en-US" b="true" sz="7500" spc="52" u="sng">
                <a:solidFill>
                  <a:srgbClr val="000000"/>
                </a:solidFill>
                <a:latin typeface="Times New Roman MT Bold"/>
                <a:ea typeface="Times New Roman MT Bold"/>
                <a:cs typeface="Times New Roman MT Bold"/>
                <a:sym typeface="Times New Roman MT Bold"/>
              </a:rPr>
              <a:t>CONCLUSION</a:t>
            </a:r>
          </a:p>
        </p:txBody>
      </p:sp>
      <p:sp>
        <p:nvSpPr>
          <p:cNvPr name="TextBox 3" id="3"/>
          <p:cNvSpPr txBox="true"/>
          <p:nvPr/>
        </p:nvSpPr>
        <p:spPr>
          <a:xfrm rot="0">
            <a:off x="451029" y="2106884"/>
            <a:ext cx="17385942" cy="5024755"/>
          </a:xfrm>
          <a:prstGeom prst="rect">
            <a:avLst/>
          </a:prstGeom>
        </p:spPr>
        <p:txBody>
          <a:bodyPr anchor="t" rtlCol="false" tIns="0" lIns="0" bIns="0" rIns="0">
            <a:spAutoFit/>
          </a:bodyPr>
          <a:lstStyle/>
          <a:p>
            <a:pPr algn="l" marL="798828" indent="-399414" lvl="1">
              <a:lnSpc>
                <a:spcPts val="5179"/>
              </a:lnSpc>
              <a:buFont typeface="Arial"/>
              <a:buChar char="•"/>
            </a:pPr>
            <a:r>
              <a:rPr lang="en-US" sz="3699">
                <a:solidFill>
                  <a:srgbClr val="000000"/>
                </a:solidFill>
                <a:latin typeface="Times New Roman MT"/>
                <a:ea typeface="Times New Roman MT"/>
                <a:cs typeface="Times New Roman MT"/>
                <a:sym typeface="Times New Roman MT"/>
              </a:rPr>
              <a:t>In this project, I analyzed a cybersecurity dataset to understand the trends and impact of cyber incidents. The data was cleaned and examined using Python and different visualizations were created to identify important patterns.</a:t>
            </a:r>
          </a:p>
          <a:p>
            <a:pPr algn="l" marL="734059" indent="-367030" lvl="1">
              <a:lnSpc>
                <a:spcPts val="4759"/>
              </a:lnSpc>
              <a:buFont typeface="Arial"/>
              <a:buChar char="•"/>
            </a:pPr>
            <a:r>
              <a:rPr lang="en-US" sz="3399">
                <a:solidFill>
                  <a:srgbClr val="000000"/>
                </a:solidFill>
                <a:latin typeface="Times New Roman MT"/>
                <a:ea typeface="Times New Roman MT"/>
                <a:cs typeface="Times New Roman MT"/>
                <a:sym typeface="Times New Roman MT"/>
              </a:rPr>
              <a:t>The analysis helped in understanding the most common types of cyber incidents, the cities and categories most affected, and the financial losses caused by these attacks. The results show how data analysis can be used to gain useful insights into real world cybersecurity problems.</a:t>
            </a:r>
          </a:p>
          <a:p>
            <a:pPr algn="ctr">
              <a:lnSpc>
                <a:spcPts val="4759"/>
              </a:lnSpc>
            </a:pPr>
          </a:p>
        </p:txBody>
      </p:sp>
    </p:spTree>
  </p:cSld>
  <p:clrMapOvr>
    <a:masterClrMapping/>
  </p:clrMapOvr>
</p:sld>
</file>

<file path=ppt/slides/slide1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702122" y="2095617"/>
            <a:ext cx="16883757" cy="4577982"/>
          </a:xfrm>
          <a:prstGeom prst="rect">
            <a:avLst/>
          </a:prstGeom>
        </p:spPr>
        <p:txBody>
          <a:bodyPr anchor="t" rtlCol="false" tIns="0" lIns="0" bIns="0" rIns="0">
            <a:spAutoFit/>
          </a:bodyPr>
          <a:lstStyle/>
          <a:p>
            <a:pPr algn="ctr" marL="0" indent="0" lvl="0">
              <a:lnSpc>
                <a:spcPts val="37470"/>
              </a:lnSpc>
              <a:spcBef>
                <a:spcPct val="0"/>
              </a:spcBef>
            </a:pPr>
            <a:r>
              <a:rPr lang="en-US" sz="26764" spc="187" strike="noStrike" u="none">
                <a:solidFill>
                  <a:srgbClr val="000000"/>
                </a:solidFill>
                <a:latin typeface="Anton"/>
                <a:ea typeface="Anton"/>
                <a:cs typeface="Anton"/>
                <a:sym typeface="Anton"/>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DAHL9VRIaUc</dc:identifier>
  <dcterms:modified xsi:type="dcterms:W3CDTF">2011-08-01T06:04:30Z</dcterms:modified>
  <cp:revision>1</cp:revision>
  <dc:title>Blue Black and White Modern Technology Presentation</dc:title>
</cp:coreProperties>
</file>